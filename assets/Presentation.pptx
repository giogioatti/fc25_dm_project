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74" r:id="rId5"/>
    <p:sldId id="260" r:id="rId6"/>
    <p:sldId id="275" r:id="rId7"/>
    <p:sldId id="261" r:id="rId8"/>
    <p:sldId id="264" r:id="rId9"/>
    <p:sldId id="263" r:id="rId10"/>
    <p:sldId id="272" r:id="rId11"/>
    <p:sldId id="265" r:id="rId12"/>
    <p:sldId id="266" r:id="rId13"/>
    <p:sldId id="267" r:id="rId14"/>
    <p:sldId id="262" r:id="rId15"/>
    <p:sldId id="268" r:id="rId16"/>
    <p:sldId id="269" r:id="rId17"/>
    <p:sldId id="270" r:id="rId18"/>
    <p:sldId id="271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67"/>
    <p:restoredTop sz="91881"/>
  </p:normalViewPr>
  <p:slideViewPr>
    <p:cSldViewPr snapToGrid="0">
      <p:cViewPr>
        <p:scale>
          <a:sx n="138" d="100"/>
          <a:sy n="138" d="100"/>
        </p:scale>
        <p:origin x="256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giovanniattingenti/Desktop/DM_Project/assets/DM_Project_sta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giovanniattingenti/Desktop/DM_Project/assets/DM_Project_sta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giovanniattingenti/Desktop/DM_Project/assets/DM_Project_sta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Execution time (ms)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PostgreSQL</c:v>
                </c:pt>
              </c:strCache>
            </c:strRef>
          </c:tx>
          <c:spPr>
            <a:solidFill>
              <a:schemeClr val="accent1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Sheet1!$B$2</c:f>
              <c:numCache>
                <c:formatCode>General</c:formatCode>
                <c:ptCount val="1"/>
                <c:pt idx="0">
                  <c:v>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D5-7640-8E3B-6F4EE81936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MongoDB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Sheet1!$C$2</c:f>
              <c:numCache>
                <c:formatCode>General</c:formatCode>
                <c:ptCount val="1"/>
                <c:pt idx="0">
                  <c:v>13.3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5D5-7640-8E3B-6F4EE819367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MongoDBIdx</c:v>
                </c:pt>
              </c:strCache>
            </c:strRef>
          </c:tx>
          <c:spPr>
            <a:solidFill>
              <a:schemeClr val="accent3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4D-4748-AD61-3185331284B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1561922175"/>
        <c:axId val="1568654655"/>
      </c:barChart>
      <c:catAx>
        <c:axId val="15619221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568654655"/>
        <c:crosses val="autoZero"/>
        <c:auto val="1"/>
        <c:lblAlgn val="ctr"/>
        <c:lblOffset val="100"/>
        <c:noMultiLvlLbl val="0"/>
      </c:catAx>
      <c:valAx>
        <c:axId val="1568654655"/>
        <c:scaling>
          <c:orientation val="minMax"/>
        </c:scaling>
        <c:delete val="1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561922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PostgreSQL</c:v>
                </c:pt>
              </c:strCache>
            </c:strRef>
          </c:tx>
          <c:spPr>
            <a:solidFill>
              <a:schemeClr val="accent1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Execution Time (ms)</c:v>
                </c:pt>
                <c:pt idx="1">
                  <c:v>Verbosity</c:v>
                </c:pt>
                <c:pt idx="2">
                  <c:v>LOC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15.6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EA-BC40-9284-AECE435F29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MongoDB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Execution Time (ms)</c:v>
                </c:pt>
                <c:pt idx="1">
                  <c:v>Verbosity</c:v>
                </c:pt>
                <c:pt idx="2">
                  <c:v>LOC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11.6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EA-BC40-9284-AECE435F29CF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1568659135"/>
        <c:axId val="1568660031"/>
      </c:barChart>
      <c:catAx>
        <c:axId val="1568659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568660031"/>
        <c:crosses val="autoZero"/>
        <c:auto val="1"/>
        <c:lblAlgn val="ctr"/>
        <c:lblOffset val="100"/>
        <c:noMultiLvlLbl val="0"/>
      </c:catAx>
      <c:valAx>
        <c:axId val="1568660031"/>
        <c:scaling>
          <c:orientation val="minMax"/>
        </c:scaling>
        <c:delete val="1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5686591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Sheet1!$B$47</c:f>
              <c:strCache>
                <c:ptCount val="1"/>
                <c:pt idx="0">
                  <c:v>AVERAGE EXECUTION TIME (ms)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5DD-7B4D-AAF3-56B43AFB4997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5DD-7B4D-AAF3-56B43AFB4997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6"/>
              </a:solidFill>
              <a:ln>
                <a:solidFill>
                  <a:schemeClr val="accent6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5DD-7B4D-AAF3-56B43AFB4997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5DD-7B4D-AAF3-56B43AFB4997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5DD-7B4D-AAF3-56B43AFB4997}"/>
              </c:ext>
            </c:extLst>
          </c:dPt>
          <c:dPt>
            <c:idx val="16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5DD-7B4D-AAF3-56B43AFB4997}"/>
              </c:ext>
            </c:extLst>
          </c:dPt>
          <c:dPt>
            <c:idx val="19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5DD-7B4D-AAF3-56B43AFB4997}"/>
              </c:ext>
            </c:extLst>
          </c:dPt>
          <c:dPt>
            <c:idx val="22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5DD-7B4D-AAF3-56B43AFB4997}"/>
              </c:ext>
            </c:extLst>
          </c:dPt>
          <c:dPt>
            <c:idx val="2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5DD-7B4D-AAF3-56B43AFB4997}"/>
              </c:ext>
            </c:extLst>
          </c:dPt>
          <c:dPt>
            <c:idx val="28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5DD-7B4D-AAF3-56B43AFB4997}"/>
              </c:ext>
            </c:extLst>
          </c:dPt>
          <c:dPt>
            <c:idx val="31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C5DD-7B4D-AAF3-56B43AFB499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-540000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Sheet1!$C$46:$AI$46</c:f>
              <c:strCache>
                <c:ptCount val="33"/>
                <c:pt idx="0">
                  <c:v>Q1-sql</c:v>
                </c:pt>
                <c:pt idx="1">
                  <c:v>Q1-mongo</c:v>
                </c:pt>
                <c:pt idx="3">
                  <c:v>Q2-sql</c:v>
                </c:pt>
                <c:pt idx="4">
                  <c:v>Q2-mongo</c:v>
                </c:pt>
                <c:pt idx="6">
                  <c:v>Q3-sql</c:v>
                </c:pt>
                <c:pt idx="7">
                  <c:v>Q3-mongo</c:v>
                </c:pt>
                <c:pt idx="9">
                  <c:v>Q4-sql</c:v>
                </c:pt>
                <c:pt idx="10">
                  <c:v>Q4-mongo</c:v>
                </c:pt>
                <c:pt idx="12">
                  <c:v>Q5-sql</c:v>
                </c:pt>
                <c:pt idx="13">
                  <c:v>Q5-mongo</c:v>
                </c:pt>
                <c:pt idx="15">
                  <c:v>Q6-sql</c:v>
                </c:pt>
                <c:pt idx="16">
                  <c:v>Q6-mongo</c:v>
                </c:pt>
                <c:pt idx="18">
                  <c:v>Q7-sql</c:v>
                </c:pt>
                <c:pt idx="19">
                  <c:v>Q7-mongo</c:v>
                </c:pt>
                <c:pt idx="21">
                  <c:v>Q8-sql</c:v>
                </c:pt>
                <c:pt idx="22">
                  <c:v>Q8-mongo</c:v>
                </c:pt>
                <c:pt idx="24">
                  <c:v>Q9-sql</c:v>
                </c:pt>
                <c:pt idx="25">
                  <c:v>Q9-mongo</c:v>
                </c:pt>
                <c:pt idx="27">
                  <c:v>Q10-sql</c:v>
                </c:pt>
                <c:pt idx="28">
                  <c:v>Q10-mongo</c:v>
                </c:pt>
                <c:pt idx="30">
                  <c:v>Q11-sql</c:v>
                </c:pt>
                <c:pt idx="31">
                  <c:v>Q11-mongo</c:v>
                </c:pt>
                <c:pt idx="32">
                  <c:v>Q11-mongoIdx</c:v>
                </c:pt>
              </c:strCache>
            </c:strRef>
          </c:cat>
          <c:val>
            <c:numRef>
              <c:f>Sheet1!$C$47:$AI$47</c:f>
              <c:numCache>
                <c:formatCode>General</c:formatCode>
                <c:ptCount val="33"/>
                <c:pt idx="0">
                  <c:v>3.9</c:v>
                </c:pt>
                <c:pt idx="1">
                  <c:v>6.4</c:v>
                </c:pt>
                <c:pt idx="3">
                  <c:v>13.7</c:v>
                </c:pt>
                <c:pt idx="4">
                  <c:v>23.3</c:v>
                </c:pt>
                <c:pt idx="6">
                  <c:v>28.8</c:v>
                </c:pt>
                <c:pt idx="7">
                  <c:v>50.8</c:v>
                </c:pt>
                <c:pt idx="9">
                  <c:v>3.3</c:v>
                </c:pt>
                <c:pt idx="10">
                  <c:v>3.1</c:v>
                </c:pt>
                <c:pt idx="12">
                  <c:v>23.4</c:v>
                </c:pt>
                <c:pt idx="13">
                  <c:v>6.8</c:v>
                </c:pt>
                <c:pt idx="15">
                  <c:v>15.6</c:v>
                </c:pt>
                <c:pt idx="16">
                  <c:v>11.6</c:v>
                </c:pt>
                <c:pt idx="18">
                  <c:v>14.3</c:v>
                </c:pt>
                <c:pt idx="19">
                  <c:v>8.9</c:v>
                </c:pt>
                <c:pt idx="21">
                  <c:v>25.6</c:v>
                </c:pt>
                <c:pt idx="22">
                  <c:v>36</c:v>
                </c:pt>
                <c:pt idx="24">
                  <c:v>17.8</c:v>
                </c:pt>
                <c:pt idx="25">
                  <c:v>25.4</c:v>
                </c:pt>
                <c:pt idx="27">
                  <c:v>38.5</c:v>
                </c:pt>
                <c:pt idx="28">
                  <c:v>2.9</c:v>
                </c:pt>
                <c:pt idx="30">
                  <c:v>6.4</c:v>
                </c:pt>
                <c:pt idx="31">
                  <c:v>13.3</c:v>
                </c:pt>
                <c:pt idx="3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C5DD-7B4D-AAF3-56B43AFB499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44"/>
        <c:overlap val="-90"/>
        <c:axId val="1717184576"/>
        <c:axId val="1718467904"/>
      </c:barChart>
      <c:catAx>
        <c:axId val="171718457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718467904"/>
        <c:crosses val="autoZero"/>
        <c:auto val="1"/>
        <c:lblAlgn val="ctr"/>
        <c:lblOffset val="100"/>
        <c:noMultiLvlLbl val="0"/>
      </c:catAx>
      <c:valAx>
        <c:axId val="17184679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7171845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title>
    <c:autoTitleDeleted val="0"/>
    <c:plotArea>
      <c:layout>
        <c:manualLayout>
          <c:layoutTarget val="inner"/>
          <c:xMode val="edge"/>
          <c:yMode val="edge"/>
          <c:x val="2.82805795824803E-2"/>
          <c:y val="0.10097099074581385"/>
          <c:w val="0.94781503701003222"/>
          <c:h val="0.771558875504487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Sheet1!$B$53</c:f>
              <c:strCache>
                <c:ptCount val="1"/>
                <c:pt idx="0">
                  <c:v>Verbosity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432-7447-A4B5-B5BA345A2A0C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432-7447-A4B5-B5BA345A2A0C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432-7447-A4B5-B5BA345A2A0C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432-7447-A4B5-B5BA345A2A0C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432-7447-A4B5-B5BA345A2A0C}"/>
              </c:ext>
            </c:extLst>
          </c:dPt>
          <c:dPt>
            <c:idx val="16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432-7447-A4B5-B5BA345A2A0C}"/>
              </c:ext>
            </c:extLst>
          </c:dPt>
          <c:dPt>
            <c:idx val="19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432-7447-A4B5-B5BA345A2A0C}"/>
              </c:ext>
            </c:extLst>
          </c:dPt>
          <c:dPt>
            <c:idx val="22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432-7447-A4B5-B5BA345A2A0C}"/>
              </c:ext>
            </c:extLst>
          </c:dPt>
          <c:dPt>
            <c:idx val="25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432-7447-A4B5-B5BA345A2A0C}"/>
              </c:ext>
            </c:extLst>
          </c:dPt>
          <c:dPt>
            <c:idx val="28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D432-7447-A4B5-B5BA345A2A0C}"/>
              </c:ext>
            </c:extLst>
          </c:dPt>
          <c:dPt>
            <c:idx val="31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432-7447-A4B5-B5BA345A2A0C}"/>
              </c:ext>
            </c:extLst>
          </c:dPt>
          <c:cat>
            <c:strRef>
              <c:f>Sheet1!$C$52:$AH$52</c:f>
              <c:strCache>
                <c:ptCount val="32"/>
                <c:pt idx="0">
                  <c:v>Q1-sql</c:v>
                </c:pt>
                <c:pt idx="1">
                  <c:v>Q1-mongo</c:v>
                </c:pt>
                <c:pt idx="3">
                  <c:v>Q2-sql</c:v>
                </c:pt>
                <c:pt idx="4">
                  <c:v>Q2-mongo</c:v>
                </c:pt>
                <c:pt idx="6">
                  <c:v>Q3-sql</c:v>
                </c:pt>
                <c:pt idx="7">
                  <c:v>Q3-mongo</c:v>
                </c:pt>
                <c:pt idx="9">
                  <c:v>Q4-sql</c:v>
                </c:pt>
                <c:pt idx="10">
                  <c:v>Q4-mongo</c:v>
                </c:pt>
                <c:pt idx="12">
                  <c:v>Q5-sql</c:v>
                </c:pt>
                <c:pt idx="13">
                  <c:v>Q5-mongo</c:v>
                </c:pt>
                <c:pt idx="15">
                  <c:v>Q6-sql</c:v>
                </c:pt>
                <c:pt idx="16">
                  <c:v>Q6-mongo</c:v>
                </c:pt>
                <c:pt idx="18">
                  <c:v>Q7-sql</c:v>
                </c:pt>
                <c:pt idx="19">
                  <c:v>Q7-mongo</c:v>
                </c:pt>
                <c:pt idx="21">
                  <c:v>Q8-sql</c:v>
                </c:pt>
                <c:pt idx="22">
                  <c:v>Q8-mongo</c:v>
                </c:pt>
                <c:pt idx="24">
                  <c:v>Q9-sql</c:v>
                </c:pt>
                <c:pt idx="25">
                  <c:v>Q9-mongo</c:v>
                </c:pt>
                <c:pt idx="27">
                  <c:v>Q10-sql</c:v>
                </c:pt>
                <c:pt idx="28">
                  <c:v>Q10-mongo</c:v>
                </c:pt>
                <c:pt idx="30">
                  <c:v>Q11-sql</c:v>
                </c:pt>
                <c:pt idx="31">
                  <c:v>Q11-mongo</c:v>
                </c:pt>
              </c:strCache>
            </c:strRef>
          </c:cat>
          <c:val>
            <c:numRef>
              <c:f>Sheet1!$C$53:$AH$53</c:f>
              <c:numCache>
                <c:formatCode>General</c:formatCode>
                <c:ptCount val="32"/>
                <c:pt idx="0">
                  <c:v>6</c:v>
                </c:pt>
                <c:pt idx="1">
                  <c:v>1</c:v>
                </c:pt>
                <c:pt idx="3">
                  <c:v>12</c:v>
                </c:pt>
                <c:pt idx="4">
                  <c:v>5</c:v>
                </c:pt>
                <c:pt idx="6">
                  <c:v>5</c:v>
                </c:pt>
                <c:pt idx="7">
                  <c:v>2</c:v>
                </c:pt>
                <c:pt idx="9">
                  <c:v>7</c:v>
                </c:pt>
                <c:pt idx="10">
                  <c:v>3</c:v>
                </c:pt>
                <c:pt idx="12">
                  <c:v>6</c:v>
                </c:pt>
                <c:pt idx="13">
                  <c:v>2</c:v>
                </c:pt>
                <c:pt idx="15">
                  <c:v>8</c:v>
                </c:pt>
                <c:pt idx="16">
                  <c:v>2</c:v>
                </c:pt>
                <c:pt idx="18">
                  <c:v>4</c:v>
                </c:pt>
                <c:pt idx="19">
                  <c:v>4</c:v>
                </c:pt>
                <c:pt idx="21">
                  <c:v>7</c:v>
                </c:pt>
                <c:pt idx="22">
                  <c:v>4</c:v>
                </c:pt>
                <c:pt idx="24">
                  <c:v>5</c:v>
                </c:pt>
                <c:pt idx="25">
                  <c:v>2</c:v>
                </c:pt>
                <c:pt idx="27">
                  <c:v>3</c:v>
                </c:pt>
                <c:pt idx="28">
                  <c:v>1</c:v>
                </c:pt>
                <c:pt idx="30">
                  <c:v>12</c:v>
                </c:pt>
                <c:pt idx="3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2-7447-A4B5-B5BA345A2A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72952576"/>
        <c:axId val="1772957056"/>
      </c:barChart>
      <c:catAx>
        <c:axId val="177295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772957056"/>
        <c:crosses val="autoZero"/>
        <c:auto val="1"/>
        <c:lblAlgn val="ctr"/>
        <c:lblOffset val="100"/>
        <c:noMultiLvlLbl val="0"/>
      </c:catAx>
      <c:valAx>
        <c:axId val="1772957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7729525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Sheet1!$B$58</c:f>
              <c:strCache>
                <c:ptCount val="1"/>
                <c:pt idx="0">
                  <c:v>LOC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8D4-6B41-9BBA-09522E1AF6B7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78D4-6B41-9BBA-09522E1AF6B7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8D4-6B41-9BBA-09522E1AF6B7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78D4-6B41-9BBA-09522E1AF6B7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8D4-6B41-9BBA-09522E1AF6B7}"/>
              </c:ext>
            </c:extLst>
          </c:dPt>
          <c:dPt>
            <c:idx val="16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8D4-6B41-9BBA-09522E1AF6B7}"/>
              </c:ext>
            </c:extLst>
          </c:dPt>
          <c:dPt>
            <c:idx val="19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8D4-6B41-9BBA-09522E1AF6B7}"/>
              </c:ext>
            </c:extLst>
          </c:dPt>
          <c:dPt>
            <c:idx val="22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8D4-6B41-9BBA-09522E1AF6B7}"/>
              </c:ext>
            </c:extLst>
          </c:dPt>
          <c:dPt>
            <c:idx val="25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8D4-6B41-9BBA-09522E1AF6B7}"/>
              </c:ext>
            </c:extLst>
          </c:dPt>
          <c:dPt>
            <c:idx val="28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8D4-6B41-9BBA-09522E1AF6B7}"/>
              </c:ext>
            </c:extLst>
          </c:dPt>
          <c:dPt>
            <c:idx val="31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8D4-6B41-9BBA-09522E1AF6B7}"/>
              </c:ext>
            </c:extLst>
          </c:dPt>
          <c:cat>
            <c:strRef>
              <c:f>Sheet1!$C$57:$AH$57</c:f>
              <c:strCache>
                <c:ptCount val="32"/>
                <c:pt idx="0">
                  <c:v>Q1-sql</c:v>
                </c:pt>
                <c:pt idx="1">
                  <c:v>Q1-mongo</c:v>
                </c:pt>
                <c:pt idx="3">
                  <c:v>Q2-sql</c:v>
                </c:pt>
                <c:pt idx="4">
                  <c:v>Q2-mongo</c:v>
                </c:pt>
                <c:pt idx="6">
                  <c:v>Q3-sql</c:v>
                </c:pt>
                <c:pt idx="7">
                  <c:v>Q3-mongo</c:v>
                </c:pt>
                <c:pt idx="9">
                  <c:v>Q4-sql</c:v>
                </c:pt>
                <c:pt idx="10">
                  <c:v>Q4-mongo</c:v>
                </c:pt>
                <c:pt idx="12">
                  <c:v>Q5-sql</c:v>
                </c:pt>
                <c:pt idx="13">
                  <c:v>Q5-mongo</c:v>
                </c:pt>
                <c:pt idx="15">
                  <c:v>Q6-sql</c:v>
                </c:pt>
                <c:pt idx="16">
                  <c:v>Q6-mongo</c:v>
                </c:pt>
                <c:pt idx="18">
                  <c:v>Q7-sql</c:v>
                </c:pt>
                <c:pt idx="19">
                  <c:v>Q7-mongo</c:v>
                </c:pt>
                <c:pt idx="21">
                  <c:v>Q8-sql</c:v>
                </c:pt>
                <c:pt idx="22">
                  <c:v>Q8-mongo</c:v>
                </c:pt>
                <c:pt idx="24">
                  <c:v>Q9-sql</c:v>
                </c:pt>
                <c:pt idx="25">
                  <c:v>Q9-mongo</c:v>
                </c:pt>
                <c:pt idx="27">
                  <c:v>Q10-sql</c:v>
                </c:pt>
                <c:pt idx="28">
                  <c:v>Q10-mongo</c:v>
                </c:pt>
                <c:pt idx="30">
                  <c:v>Q11-sql</c:v>
                </c:pt>
                <c:pt idx="31">
                  <c:v>Q11-mongo</c:v>
                </c:pt>
              </c:strCache>
            </c:strRef>
          </c:cat>
          <c:val>
            <c:numRef>
              <c:f>Sheet1!$C$58:$AH$58</c:f>
              <c:numCache>
                <c:formatCode>General</c:formatCode>
                <c:ptCount val="32"/>
                <c:pt idx="0">
                  <c:v>6</c:v>
                </c:pt>
                <c:pt idx="1">
                  <c:v>6</c:v>
                </c:pt>
                <c:pt idx="3">
                  <c:v>7</c:v>
                </c:pt>
                <c:pt idx="4">
                  <c:v>9</c:v>
                </c:pt>
                <c:pt idx="6">
                  <c:v>5</c:v>
                </c:pt>
                <c:pt idx="7">
                  <c:v>3</c:v>
                </c:pt>
                <c:pt idx="9">
                  <c:v>5</c:v>
                </c:pt>
                <c:pt idx="10">
                  <c:v>6</c:v>
                </c:pt>
                <c:pt idx="12">
                  <c:v>6</c:v>
                </c:pt>
                <c:pt idx="13">
                  <c:v>8</c:v>
                </c:pt>
                <c:pt idx="15">
                  <c:v>6</c:v>
                </c:pt>
                <c:pt idx="16">
                  <c:v>3</c:v>
                </c:pt>
                <c:pt idx="18">
                  <c:v>4</c:v>
                </c:pt>
                <c:pt idx="19">
                  <c:v>10</c:v>
                </c:pt>
                <c:pt idx="21">
                  <c:v>6</c:v>
                </c:pt>
                <c:pt idx="22">
                  <c:v>8</c:v>
                </c:pt>
                <c:pt idx="24">
                  <c:v>4</c:v>
                </c:pt>
                <c:pt idx="25">
                  <c:v>3</c:v>
                </c:pt>
                <c:pt idx="27">
                  <c:v>12</c:v>
                </c:pt>
                <c:pt idx="28">
                  <c:v>10</c:v>
                </c:pt>
                <c:pt idx="30">
                  <c:v>18</c:v>
                </c:pt>
                <c:pt idx="3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D4-6B41-9BBA-09522E1AF6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18457152"/>
        <c:axId val="1604385664"/>
      </c:barChart>
      <c:catAx>
        <c:axId val="171845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604385664"/>
        <c:crosses val="autoZero"/>
        <c:auto val="1"/>
        <c:lblAlgn val="ctr"/>
        <c:lblOffset val="100"/>
        <c:noMultiLvlLbl val="0"/>
      </c:catAx>
      <c:valAx>
        <c:axId val="1604385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171845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5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197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5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197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800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800" b="0" i="0" u="none" strike="noStrike" kern="1200" baseline="0"/>
    <cs:bodyPr rot="-5400000" spcFirstLastPara="1" vertOverflow="clip" horzOverflow="clip" vert="horz" wrap="square" lIns="38100" tIns="19050" rIns="38100" bIns="19050" anchor="ctr" anchorCtr="1">
      <a:spAutoFit/>
    </cs:bodyPr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8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T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Giogioatti/Fc25_DM_Project/tree/mai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F5369-1D67-0909-60B0-192D3BDF3C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SQL vs NoSQL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CF5CF-918C-B88A-6BDA-EC439D06D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b="1" dirty="0"/>
              <a:t>Comparative Performance Benchmark: PostgreSQL vs MongoDB in Football Analytics</a:t>
            </a:r>
            <a:r>
              <a:rPr lang="en-GB" dirty="0"/>
              <a:t> 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72516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E672-CB55-14C8-0022-465895E02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Context and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A9677-67C3-434C-ADC0-9D0F81527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Comparative Performance Benchmark: </a:t>
            </a:r>
            <a:r>
              <a:rPr lang="en-GB" dirty="0"/>
              <a:t>PostgreSQL vs MongoDB in Football Analytics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Real-World Use Case:</a:t>
            </a:r>
            <a:r>
              <a:rPr lang="en-GB" dirty="0"/>
              <a:t> Utilizing the EA Sports FC 25 dataset containing over 17,000 professional player profiles.</a:t>
            </a:r>
          </a:p>
          <a:p>
            <a:endParaRPr lang="en-GB" dirty="0"/>
          </a:p>
          <a:p>
            <a:r>
              <a:rPr lang="en-GB" b="1" dirty="0"/>
              <a:t>Key Question:</a:t>
            </a:r>
            <a:r>
              <a:rPr lang="en-GB" dirty="0"/>
              <a:t> ”Which database performs best in which specific context ?”</a:t>
            </a:r>
          </a:p>
          <a:p>
            <a:endParaRPr lang="en-GB" dirty="0"/>
          </a:p>
          <a:p>
            <a:r>
              <a:rPr lang="en-GB" b="1" dirty="0"/>
              <a:t>Core Objective:</a:t>
            </a:r>
            <a:r>
              <a:rPr lang="en-GB" dirty="0"/>
              <a:t> The goal is not to declare an absolute winner, but to determine contextual suitability.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520028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85BE-BE0F-37FA-0438-C1EA7248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Dataset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6F159D8-93AB-C010-778B-CB6C17979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Dataset Origin:</a:t>
            </a:r>
            <a:r>
              <a:rPr lang="en-GB" dirty="0"/>
              <a:t> A comprehensive database derived from </a:t>
            </a:r>
            <a:r>
              <a:rPr lang="en-GB" b="1" dirty="0"/>
              <a:t>EA Sports FC 25</a:t>
            </a:r>
            <a:r>
              <a:rPr lang="en-GB" dirty="0"/>
              <a:t>, containing over </a:t>
            </a:r>
            <a:r>
              <a:rPr lang="en-GB" b="1" dirty="0"/>
              <a:t>17,000 professional player profiles </a:t>
            </a:r>
            <a:r>
              <a:rPr lang="en-GB" dirty="0"/>
              <a:t>with</a:t>
            </a:r>
            <a:r>
              <a:rPr lang="en-GB" b="1" dirty="0"/>
              <a:t> 50+ attributes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Issues: </a:t>
            </a:r>
            <a:r>
              <a:rPr lang="en-GB" dirty="0"/>
              <a:t>Primary key collision, data types, array.</a:t>
            </a:r>
          </a:p>
          <a:p>
            <a:endParaRPr lang="en-GB" dirty="0"/>
          </a:p>
          <a:p>
            <a:r>
              <a:rPr lang="en-GB" b="1" dirty="0"/>
              <a:t>SQL (PostgreSQL) - Normalized Schema:</a:t>
            </a:r>
            <a:r>
              <a:rPr lang="en-GB" dirty="0"/>
              <a:t> Designed a strict relational schema with </a:t>
            </a:r>
            <a:r>
              <a:rPr lang="en-GB" b="1" dirty="0"/>
              <a:t>8 interconnected tables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NoSQL (MongoDB) - Embedded Pattern:</a:t>
            </a:r>
            <a:r>
              <a:rPr lang="en-GB" dirty="0"/>
              <a:t> Implemented a denormalized "Embedded Data" pattern, creating comprehensive, autonomous JSON documents.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50534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20CFE-EF8C-D1B4-1B1E-FA2A866B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PostgreSQL ETL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257B7-3DDE-8ABB-CE98-41C765180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8210718" cy="3416300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Temporary Staging:</a:t>
            </a:r>
            <a:r>
              <a:rPr lang="en-GB" dirty="0"/>
              <a:t> Loaded raw CSV into a single flat table.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Data Cleaning:</a:t>
            </a:r>
            <a:r>
              <a:rPr lang="en-GB" dirty="0"/>
              <a:t> Solved Primary Key collisions via </a:t>
            </a:r>
            <a:r>
              <a:rPr lang="en-GB" b="1" dirty="0"/>
              <a:t>ID Offset.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Atomicity Enforcement:</a:t>
            </a:r>
            <a:r>
              <a:rPr lang="en-GB" dirty="0"/>
              <a:t> Normalized array strings into rows.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Parsing &amp; Casting:</a:t>
            </a:r>
            <a:r>
              <a:rPr lang="en-GB" dirty="0"/>
              <a:t> Converted text fields (e.g., "182cm") and raw numeric numbers to integers.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Relational Distribution:</a:t>
            </a:r>
            <a:r>
              <a:rPr lang="en-GB" dirty="0"/>
              <a:t> Dispatched cleaned data across </a:t>
            </a:r>
            <a:r>
              <a:rPr lang="en-GB" b="1" dirty="0"/>
              <a:t>8 normalized tables</a:t>
            </a:r>
            <a:endParaRPr lang="en-GB" dirty="0"/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676074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4091D54B-59AB-4A5E-8E9E-0421BD66D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47CE62E-FFFD-4A1F-BA78-C3B89C36F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AE51FD27-6B6A-4D21-BF22-245DA9BD0B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44315-1C5A-4185-A952-25D98D303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F15F55-D7A2-6198-A0E7-E3C71AFED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55" y="1241266"/>
            <a:ext cx="3161016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SQL Schema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5A657F0-42F3-40D3-BC75-7DA1F5C6A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3332" y="396837"/>
            <a:ext cx="7906665" cy="6058999"/>
            <a:chOff x="423332" y="396837"/>
            <a:chExt cx="7906665" cy="6058999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94FF68-7A60-47B7-AB98-1674FC7F2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flipH="1">
              <a:off x="423332" y="402165"/>
              <a:ext cx="678513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T"/>
            </a:p>
          </p:txBody>
        </p:sp>
        <p:sp>
          <p:nvSpPr>
            <p:cNvPr id="50" name="Freeform 5">
              <a:extLst>
                <a:ext uri="{FF2B5EF4-FFF2-40B4-BE49-F238E27FC236}">
                  <a16:creationId xmlns:a16="http://schemas.microsoft.com/office/drawing/2014/main" id="{42B4F8D7-4E9C-45EF-9072-1AF32CEF71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400000" flipH="1">
              <a:off x="4616676" y="2801722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ECBDDDB-593C-40F0-8E80-AA75798EE4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677511" flipH="1">
              <a:off x="6459831" y="1826079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T"/>
            </a:p>
          </p:txBody>
        </p:sp>
      </p:grp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DD61E7-C9C4-4537-E248-2A372E280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837" y="257397"/>
            <a:ext cx="5011130" cy="634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91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1FCF-A22E-A130-2818-A08D65B47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MongoDB Aggregation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6DE67-4072-FB28-6ED9-330401825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One-Shot Transformation:</a:t>
            </a:r>
            <a:r>
              <a:rPr lang="en-GB" dirty="0"/>
              <a:t> Used a single </a:t>
            </a:r>
            <a:r>
              <a:rPr lang="en-GB" b="1" dirty="0"/>
              <a:t>stage</a:t>
            </a:r>
            <a:r>
              <a:rPr lang="en-GB" dirty="0"/>
              <a:t> within an Aggregation Pipeline to reshape raw data into the target schema in memory.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Semantic Nesting:</a:t>
            </a:r>
            <a:r>
              <a:rPr lang="en-GB" dirty="0"/>
              <a:t> Regrouped 50+ flat columns into logical sub-objects.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Array Generation:</a:t>
            </a:r>
            <a:r>
              <a:rPr lang="en-GB" dirty="0"/>
              <a:t> Transformed CSV strings directly into </a:t>
            </a:r>
            <a:r>
              <a:rPr lang="en-GB" b="1" dirty="0"/>
              <a:t>Native Arrays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Polymorphic Logic:</a:t>
            </a:r>
            <a:r>
              <a:rPr lang="en-GB" dirty="0"/>
              <a:t> Dynamically inserted the goalkeeping object </a:t>
            </a:r>
            <a:r>
              <a:rPr lang="en-GB" i="1" dirty="0"/>
              <a:t>only</a:t>
            </a:r>
            <a:r>
              <a:rPr lang="en-GB" dirty="0"/>
              <a:t> for Goalkeepers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60114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FC485557-E744-401B-A251-3650FAEEA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T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86D68AF-6B45-4B98-8634-61D8C9C05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143DE54-7BFF-4B29-8566-DF80EE4CCB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4A139-5424-5D3F-0D2A-481D26E6E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586" y="2918883"/>
            <a:ext cx="3917347" cy="102023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T" sz="3300" dirty="0">
                <a:solidFill>
                  <a:srgbClr val="FFFFFE"/>
                </a:solidFill>
              </a:rPr>
              <a:t>No-SQL Schema</a:t>
            </a:r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7C661810-D461-4214-A635-30A7D1714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pic>
        <p:nvPicPr>
          <p:cNvPr id="10" name="Picture 9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EF46A53-B11A-D4DB-304E-3E4C4ECB6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03" y="803751"/>
            <a:ext cx="3005910" cy="5250498"/>
          </a:xfrm>
          <a:prstGeom prst="rect">
            <a:avLst/>
          </a:prstGeom>
        </p:spPr>
      </p:pic>
      <p:pic>
        <p:nvPicPr>
          <p:cNvPr id="12" name="Picture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A14A2B0A-9E34-1E86-BC70-4A3AB811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236" y="1130914"/>
            <a:ext cx="3113904" cy="459617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ED6475A3-FF98-4FA0-B527-600EBA9BD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T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FC848687-28A9-26B8-1B65-C97DDC4C3D85}"/>
              </a:ext>
            </a:extLst>
          </p:cNvPr>
          <p:cNvSpPr/>
          <p:nvPr/>
        </p:nvSpPr>
        <p:spPr>
          <a:xfrm>
            <a:off x="5142960" y="2619022"/>
            <a:ext cx="253129" cy="135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93910712-5CD7-A2EE-3FB1-DEDDFA0EF82E}"/>
              </a:ext>
            </a:extLst>
          </p:cNvPr>
          <p:cNvSpPr/>
          <p:nvPr/>
        </p:nvSpPr>
        <p:spPr>
          <a:xfrm>
            <a:off x="8289711" y="4159956"/>
            <a:ext cx="253129" cy="135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44844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71E92-F6AC-2F28-1B29-FDFACBE3C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 &amp; Environment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A7203-ED6A-3883-16FA-5E034BD78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10 executions for each query.</a:t>
            </a:r>
          </a:p>
          <a:p>
            <a:endParaRPr lang="en-GB" dirty="0"/>
          </a:p>
          <a:p>
            <a:r>
              <a:rPr lang="en-GB" dirty="0"/>
              <a:t>Exact timings were captured using native internal profilers, </a:t>
            </a:r>
            <a:r>
              <a:rPr lang="en-GB" b="1" dirty="0"/>
              <a:t>EXPLAIN ANALYZE</a:t>
            </a:r>
            <a:r>
              <a:rPr lang="en-GB" dirty="0"/>
              <a:t> for PostgreSQL and the </a:t>
            </a:r>
            <a:r>
              <a:rPr lang="en-GB" b="1" dirty="0"/>
              <a:t>.explain("</a:t>
            </a:r>
            <a:r>
              <a:rPr lang="en-GB" b="1" dirty="0" err="1"/>
              <a:t>executionStats</a:t>
            </a:r>
            <a:r>
              <a:rPr lang="en-GB" b="1" dirty="0"/>
              <a:t>")</a:t>
            </a:r>
            <a:r>
              <a:rPr lang="en-GB" dirty="0"/>
              <a:t> cursor for MongoDB, to obtain precise execution times in milliseconds.</a:t>
            </a:r>
          </a:p>
          <a:p>
            <a:endParaRPr lang="en-GB" dirty="0"/>
          </a:p>
          <a:p>
            <a:r>
              <a:rPr lang="en-GB" dirty="0"/>
              <a:t>Beyond raw speed, I evaluated </a:t>
            </a:r>
            <a:r>
              <a:rPr lang="en-GB" b="1" dirty="0"/>
              <a:t>Syntactic Complexity</a:t>
            </a:r>
            <a:r>
              <a:rPr lang="en-GB" dirty="0"/>
              <a:t> by </a:t>
            </a:r>
            <a:r>
              <a:rPr lang="en-GB" dirty="0" err="1"/>
              <a:t>analyzing</a:t>
            </a:r>
            <a:r>
              <a:rPr lang="en-GB" dirty="0"/>
              <a:t> </a:t>
            </a:r>
            <a:r>
              <a:rPr lang="en-GB" b="1" dirty="0"/>
              <a:t>Cognitive Verbosity</a:t>
            </a:r>
            <a:r>
              <a:rPr lang="en-GB" dirty="0"/>
              <a:t> (number of logic operators) and </a:t>
            </a:r>
            <a:r>
              <a:rPr lang="en-GB" b="1" dirty="0"/>
              <a:t>Lines of Code</a:t>
            </a:r>
            <a:r>
              <a:rPr lang="en-GB" dirty="0"/>
              <a:t> required to solve the problems.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All benchmarks were executed on identical hardware configurations to ensure strict </a:t>
            </a:r>
            <a:r>
              <a:rPr lang="en-GB" b="1" dirty="0"/>
              <a:t>resource parity</a:t>
            </a:r>
            <a:r>
              <a:rPr lang="en-GB" dirty="0"/>
              <a:t> (CPU/RAM) and guarantee a scientifically fair comparison.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4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4D7D0-F85A-09D5-6765-4CB2489FE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10 Benchmark Queries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3B9160-1B88-A13C-4807-0A024E6E37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1412176"/>
              </p:ext>
            </p:extLst>
          </p:nvPr>
        </p:nvGraphicFramePr>
        <p:xfrm>
          <a:off x="5897034" y="2626076"/>
          <a:ext cx="5437011" cy="3740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337">
                  <a:extLst>
                    <a:ext uri="{9D8B030D-6E8A-4147-A177-3AD203B41FA5}">
                      <a16:colId xmlns:a16="http://schemas.microsoft.com/office/drawing/2014/main" val="141651073"/>
                    </a:ext>
                  </a:extLst>
                </a:gridCol>
                <a:gridCol w="1812337">
                  <a:extLst>
                    <a:ext uri="{9D8B030D-6E8A-4147-A177-3AD203B41FA5}">
                      <a16:colId xmlns:a16="http://schemas.microsoft.com/office/drawing/2014/main" val="2934039028"/>
                    </a:ext>
                  </a:extLst>
                </a:gridCol>
                <a:gridCol w="1812337">
                  <a:extLst>
                    <a:ext uri="{9D8B030D-6E8A-4147-A177-3AD203B41FA5}">
                      <a16:colId xmlns:a16="http://schemas.microsoft.com/office/drawing/2014/main" val="3519687563"/>
                    </a:ext>
                  </a:extLst>
                </a:gridCol>
              </a:tblGrid>
              <a:tr h="1246952">
                <a:tc>
                  <a:txBody>
                    <a:bodyPr/>
                    <a:lstStyle/>
                    <a:p>
                      <a:pPr algn="ctr"/>
                      <a:r>
                        <a:rPr lang="en-IT" dirty="0"/>
                        <a:t>Q1/11:Multi-Join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dirty="0"/>
                        <a:t>Q2: </a:t>
                      </a:r>
                      <a:r>
                        <a:rPr lang="en-GB" dirty="0"/>
                        <a:t>Analytics &amp; Group By</a:t>
                      </a:r>
                      <a:endParaRPr lang="en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i="1" dirty="0"/>
                        <a:t>Q3: Mass Update (Write)</a:t>
                      </a:r>
                      <a:r>
                        <a:rPr lang="en-GB" dirty="0"/>
                        <a:t> </a:t>
                      </a:r>
                      <a:endParaRPr lang="en-IT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806541"/>
                  </a:ext>
                </a:extLst>
              </a:tr>
              <a:tr h="124695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Q4: Text Search (Regex)</a:t>
                      </a:r>
                      <a:endParaRPr lang="en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Q5: Polymorphism</a:t>
                      </a:r>
                      <a:endParaRPr lang="en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Q6: Array Filtering</a:t>
                      </a:r>
                      <a:endParaRPr lang="en-IT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3653862"/>
                  </a:ext>
                </a:extLst>
              </a:tr>
              <a:tr h="124695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Q7: Intra-document Comparison</a:t>
                      </a:r>
                      <a:endParaRPr lang="en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Q8: Window Functions</a:t>
                      </a:r>
                      <a:endParaRPr lang="en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Q9-10: Schema Evolution</a:t>
                      </a:r>
                      <a:endParaRPr lang="en-IT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7770693"/>
                  </a:ext>
                </a:extLst>
              </a:tr>
            </a:tbl>
          </a:graphicData>
        </a:graphic>
      </p:graphicFrame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92FE9468-EC32-93AA-4FBB-02DE536662C0}"/>
              </a:ext>
            </a:extLst>
          </p:cNvPr>
          <p:cNvSpPr txBox="1">
            <a:spLocks/>
          </p:cNvSpPr>
          <p:nvPr/>
        </p:nvSpPr>
        <p:spPr>
          <a:xfrm>
            <a:off x="745476" y="2610552"/>
            <a:ext cx="4557224" cy="3740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11 benchmark queries</a:t>
            </a:r>
            <a:r>
              <a:rPr lang="en-GB" dirty="0"/>
              <a:t> to assess </a:t>
            </a:r>
            <a:r>
              <a:rPr lang="en-GB" b="1" dirty="0"/>
              <a:t>3 key dimensions</a:t>
            </a:r>
            <a:r>
              <a:rPr lang="en-GB" dirty="0"/>
              <a:t>:</a:t>
            </a:r>
            <a:endParaRPr lang="en-GB" b="1" dirty="0"/>
          </a:p>
          <a:p>
            <a:r>
              <a:rPr lang="en-GB" b="1" dirty="0"/>
              <a:t>Pure Performance:</a:t>
            </a:r>
            <a:r>
              <a:rPr lang="en-GB" dirty="0"/>
              <a:t> Response times for Joins and Aggregations.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Syntactic Complexity:</a:t>
            </a:r>
            <a:r>
              <a:rPr lang="en-GB" dirty="0"/>
              <a:t> Ease of writing queries.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Flexibility: </a:t>
            </a:r>
            <a:r>
              <a:rPr lang="en-GB" dirty="0"/>
              <a:t>The ability to adapt to structural changes.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064354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07DDC-E9B3-9400-CD86-5CC09077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3941B-8D2B-F6F5-E0D2-5A1AE4C55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168828" cy="4120573"/>
          </a:xfrm>
        </p:spPr>
        <p:txBody>
          <a:bodyPr>
            <a:normAutofit fontScale="85000" lnSpcReduction="10000"/>
          </a:bodyPr>
          <a:lstStyle/>
          <a:p>
            <a:r>
              <a:rPr lang="en-IT" dirty="0"/>
              <a:t>Q1: </a:t>
            </a:r>
            <a:r>
              <a:rPr lang="en-GB" dirty="0"/>
              <a:t>"Find all French players who play for Real Madrid.”</a:t>
            </a:r>
          </a:p>
          <a:p>
            <a:r>
              <a:rPr lang="en-GB" dirty="0"/>
              <a:t>Q2:</a:t>
            </a:r>
            <a:r>
              <a:rPr lang="en-GB" i="1" dirty="0"/>
              <a:t>"Calculate the average age for every Nation that has at least 30 registered players."</a:t>
            </a:r>
            <a:r>
              <a:rPr lang="en-GB" dirty="0"/>
              <a:t> </a:t>
            </a:r>
          </a:p>
          <a:p>
            <a:r>
              <a:rPr lang="en-GB" dirty="0"/>
              <a:t>Q3:</a:t>
            </a:r>
            <a:r>
              <a:rPr lang="en-GB" i="1" dirty="0"/>
              <a:t>"Increase the 'Stamina' stat by +1 for all players over 30 years old."</a:t>
            </a:r>
            <a:r>
              <a:rPr lang="en-GB" dirty="0"/>
              <a:t> </a:t>
            </a:r>
          </a:p>
          <a:p>
            <a:r>
              <a:rPr lang="en-GB" dirty="0"/>
              <a:t>Q4:"Find players whose name starts with 'Ro' playing for a team ending in 'United'."</a:t>
            </a:r>
          </a:p>
          <a:p>
            <a:r>
              <a:rPr lang="en-GB" dirty="0"/>
              <a:t>Q5:"Find players who are either elite Goalkeepers (Diving &gt; 88) OR elite Dribblers (Dribbling &gt; 90).”</a:t>
            </a:r>
          </a:p>
          <a:p>
            <a:r>
              <a:rPr lang="en-GB" dirty="0"/>
              <a:t>Q6:"Find players who possess BOTH the 'Flair' AND 'Rapid' playstyles."</a:t>
            </a:r>
          </a:p>
          <a:p>
            <a:r>
              <a:rPr lang="en-GB" dirty="0"/>
              <a:t>Q7:"Find players whose Passing stat is at least 15 points higher than their Shooting stat.”</a:t>
            </a:r>
          </a:p>
          <a:p>
            <a:r>
              <a:rPr lang="en-GB" dirty="0"/>
              <a:t>Q8:"Identify the single highest-rated player for every specific League."</a:t>
            </a:r>
          </a:p>
          <a:p>
            <a:r>
              <a:rPr lang="en-GB" dirty="0"/>
              <a:t>Q9:</a:t>
            </a:r>
            <a:r>
              <a:rPr lang="en-GB" i="1" dirty="0"/>
              <a:t>"Add a new “</a:t>
            </a:r>
            <a:r>
              <a:rPr lang="en-GB" i="1" dirty="0" err="1"/>
              <a:t>scouting_status</a:t>
            </a:r>
            <a:r>
              <a:rPr lang="en-GB" i="1" dirty="0"/>
              <a:t>” column and set it to 'High Potential' for all players Under-21.”</a:t>
            </a:r>
          </a:p>
          <a:p>
            <a:r>
              <a:rPr lang="en-GB" i="1" dirty="0"/>
              <a:t>Q10: “</a:t>
            </a:r>
            <a:r>
              <a:rPr lang="en-GB" dirty="0"/>
              <a:t>Maintain a chronological 'Career Timeline' for each player containing diverse event types (Transfers, Injuries, Awards), where each event requires a completely different set of fields.</a:t>
            </a:r>
            <a:r>
              <a:rPr lang="en-GB" i="1" dirty="0"/>
              <a:t>”</a:t>
            </a:r>
          </a:p>
          <a:p>
            <a:r>
              <a:rPr lang="en-GB" dirty="0"/>
              <a:t>Q11: “Find full details of Brazilian players competing in the Premier League who possess the 'Technical' playstyle and have a Dribbling stat greater than 85.”</a:t>
            </a:r>
          </a:p>
        </p:txBody>
      </p:sp>
    </p:spTree>
    <p:extLst>
      <p:ext uri="{BB962C8B-B14F-4D97-AF65-F5344CB8AC3E}">
        <p14:creationId xmlns:p14="http://schemas.microsoft.com/office/powerpoint/2010/main" val="4158034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D661C-2F22-B2B2-AA85-0C9AEA33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Performance 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4BDE4-9610-F3A7-F6D3-AF6502D39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075" y="2624025"/>
            <a:ext cx="3270290" cy="341630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Objective:</a:t>
            </a:r>
            <a:r>
              <a:rPr lang="en-GB" dirty="0"/>
              <a:t> “Find full details of Brazilian players competing in the Premier League who possess the 'Technical' playstyle and have a Dribbling stat greater than 85” (Q11).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MongoDB COLLSCAN</a:t>
            </a:r>
          </a:p>
          <a:p>
            <a:r>
              <a:rPr lang="en-GB" dirty="0"/>
              <a:t>Small Dataset Factor (Entire DB fits in RAM, masking SQL JOIN costs.)</a:t>
            </a:r>
          </a:p>
          <a:p>
            <a:r>
              <a:rPr lang="en-GB" dirty="0"/>
              <a:t>Implicit indexes (Primary key, Unique)</a:t>
            </a:r>
          </a:p>
          <a:p>
            <a:pPr marL="0" indent="0">
              <a:buNone/>
            </a:pPr>
            <a:endParaRPr lang="en-IT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50B9C8E-217E-5B43-7688-07CACEC15D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2988078"/>
              </p:ext>
            </p:extLst>
          </p:nvPr>
        </p:nvGraphicFramePr>
        <p:xfrm>
          <a:off x="6197600" y="2867378"/>
          <a:ext cx="4775200" cy="327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6499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455ED-9365-FD9A-5B5D-A257969A1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Syntactic Complexity 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DD6A308-EFB6-47EF-7830-D24EC246C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4083090" cy="3416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Objective: “</a:t>
            </a:r>
            <a:r>
              <a:rPr lang="en-GB" dirty="0"/>
              <a:t>Find players who possess </a:t>
            </a:r>
            <a:r>
              <a:rPr lang="en-GB" b="1" dirty="0"/>
              <a:t>BOTH</a:t>
            </a:r>
            <a:r>
              <a:rPr lang="en-GB" dirty="0"/>
              <a:t> the </a:t>
            </a:r>
            <a:r>
              <a:rPr lang="en-GB" i="1" dirty="0"/>
              <a:t>”Flair"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i="1" dirty="0"/>
              <a:t>"Rapid"</a:t>
            </a:r>
            <a:r>
              <a:rPr lang="en-GB" dirty="0"/>
              <a:t> playstyles (Q6)”.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Structural Fragmentation (SQL)</a:t>
            </a:r>
          </a:p>
          <a:p>
            <a:r>
              <a:rPr lang="en-GB" dirty="0"/>
              <a:t>Verbosity (SQL)</a:t>
            </a:r>
          </a:p>
          <a:p>
            <a:r>
              <a:rPr lang="en-GB" dirty="0"/>
              <a:t>Natural Array </a:t>
            </a:r>
            <a:r>
              <a:rPr lang="en-GB" dirty="0" err="1"/>
              <a:t>Modeling</a:t>
            </a:r>
            <a:r>
              <a:rPr lang="en-GB" dirty="0"/>
              <a:t> (MongoDB)</a:t>
            </a:r>
          </a:p>
          <a:p>
            <a:r>
              <a:rPr lang="en-GB" dirty="0"/>
              <a:t>Declarative Power (MongoDB)</a:t>
            </a:r>
          </a:p>
          <a:p>
            <a:pPr marL="0" indent="0">
              <a:buNone/>
            </a:pPr>
            <a:endParaRPr lang="en-IT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6285F51-89E3-A2BC-9B9E-D05CC379D7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8324951"/>
              </p:ext>
            </p:extLst>
          </p:nvPr>
        </p:nvGraphicFramePr>
        <p:xfrm>
          <a:off x="6175022" y="2432050"/>
          <a:ext cx="5192888" cy="3759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97874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2F148-E1CA-A997-885D-1820E117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Flexibility 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AA153AE-6816-E200-A7A8-44F057ABB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827" y="2796308"/>
            <a:ext cx="2955227" cy="3400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Objective: </a:t>
            </a:r>
          </a:p>
          <a:p>
            <a:pPr marL="0" indent="0">
              <a:buNone/>
            </a:pPr>
            <a:r>
              <a:rPr lang="en-GB" b="1" dirty="0"/>
              <a:t>“</a:t>
            </a:r>
            <a:r>
              <a:rPr lang="en-GB" dirty="0"/>
              <a:t>Maintain a chronological 'Career Timeline' for each player containing diverse event types (Transfers, Injuries, Awards), where each event requires a completely different set of fields (Q10).”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5ECC-974E-9DF3-6C03-FA1B0AB6F70A}"/>
              </a:ext>
            </a:extLst>
          </p:cNvPr>
          <p:cNvSpPr txBox="1">
            <a:spLocks/>
          </p:cNvSpPr>
          <p:nvPr/>
        </p:nvSpPr>
        <p:spPr>
          <a:xfrm>
            <a:off x="8438753" y="2796308"/>
            <a:ext cx="2955227" cy="3400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b="1" dirty="0"/>
              <a:t>MongoDB:</a:t>
            </a:r>
          </a:p>
          <a:p>
            <a:r>
              <a:rPr lang="en-GB" dirty="0"/>
              <a:t>Simply push diverse objects into the same "timeline" array.</a:t>
            </a:r>
          </a:p>
          <a:p>
            <a:r>
              <a:rPr lang="en-GB" dirty="0"/>
              <a:t>Handles </a:t>
            </a:r>
            <a:r>
              <a:rPr lang="en-GB" b="1" i="1" dirty="0"/>
              <a:t>heterogeneous data </a:t>
            </a:r>
            <a:r>
              <a:rPr lang="en-GB" dirty="0"/>
              <a:t>types (Transfer vs Injury vs Award) without schema changes.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BB744E1-4E4C-A5E1-B3F0-E81C840DF05F}"/>
              </a:ext>
            </a:extLst>
          </p:cNvPr>
          <p:cNvSpPr txBox="1">
            <a:spLocks/>
          </p:cNvSpPr>
          <p:nvPr/>
        </p:nvSpPr>
        <p:spPr>
          <a:xfrm>
            <a:off x="4755290" y="2796308"/>
            <a:ext cx="2955227" cy="3400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b="1" dirty="0"/>
              <a:t>SQL:</a:t>
            </a:r>
          </a:p>
          <a:p>
            <a:r>
              <a:rPr lang="en-GB" dirty="0"/>
              <a:t>Forced to create a new table with a column for </a:t>
            </a:r>
            <a:r>
              <a:rPr lang="en-GB" b="1" i="1" dirty="0"/>
              <a:t>every possible attribute</a:t>
            </a:r>
            <a:r>
              <a:rPr lang="en-GB" i="1" dirty="0"/>
              <a:t>.</a:t>
            </a:r>
          </a:p>
          <a:p>
            <a:r>
              <a:rPr lang="en-GB" dirty="0"/>
              <a:t>Sparse table with NULL cells.</a:t>
            </a:r>
          </a:p>
          <a:p>
            <a:r>
              <a:rPr lang="en-GB" dirty="0"/>
              <a:t>Alter table for every new type of event.</a:t>
            </a:r>
          </a:p>
        </p:txBody>
      </p:sp>
    </p:spTree>
    <p:extLst>
      <p:ext uri="{BB962C8B-B14F-4D97-AF65-F5344CB8AC3E}">
        <p14:creationId xmlns:p14="http://schemas.microsoft.com/office/powerpoint/2010/main" val="185883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3B877-BA96-973F-A2AF-4D9FC9668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IT">
                <a:solidFill>
                  <a:srgbClr val="EBEBEB"/>
                </a:solidFill>
              </a:rPr>
              <a:t>Prestational Benchmark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1CDD036-1781-3688-C15C-25859F2755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2059077"/>
              </p:ext>
            </p:extLst>
          </p:nvPr>
        </p:nvGraphicFramePr>
        <p:xfrm>
          <a:off x="1833106" y="2281602"/>
          <a:ext cx="7405107" cy="43083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63139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57601-EB2D-62FE-6591-9A8FB944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Verbosity Benchmark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5D577CE-F7B0-5075-B17C-CF4AEE5AD5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2761515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29295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73B3-D60E-8219-CBBB-BCAD77E63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LOC Benchmark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C9330B91-87BB-612D-BF92-D11DFAD0AB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5597928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34486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F9D97-FB4E-60E4-E6F9-4451A586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FB1FF-562C-3D86-243E-017C7FFDB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2686756"/>
            <a:ext cx="5689600" cy="3705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Performance: A "Tied Game" with Specialized Roles</a:t>
            </a:r>
            <a:endParaRPr lang="en-GB" dirty="0"/>
          </a:p>
          <a:p>
            <a:r>
              <a:rPr lang="en-GB" b="1" dirty="0"/>
              <a:t>PostgreSQL: </a:t>
            </a:r>
            <a:r>
              <a:rPr lang="en-GB" dirty="0"/>
              <a:t>Dominates in </a:t>
            </a:r>
            <a:r>
              <a:rPr lang="en-GB" b="1" dirty="0"/>
              <a:t>Structured Analytics, </a:t>
            </a:r>
            <a:r>
              <a:rPr lang="en-GB" dirty="0"/>
              <a:t>massive updates on fixed-width columns, leveraging 40+ years of optimization for mathematical operations.</a:t>
            </a:r>
          </a:p>
          <a:p>
            <a:r>
              <a:rPr lang="en-GB" b="1" dirty="0"/>
              <a:t>MongoDB:</a:t>
            </a:r>
            <a:r>
              <a:rPr lang="en-GB" dirty="0"/>
              <a:t> Wins on </a:t>
            </a:r>
            <a:r>
              <a:rPr lang="en-GB" b="1" dirty="0"/>
              <a:t>Complex Data Retrieval</a:t>
            </a:r>
            <a:r>
              <a:rPr lang="en-GB" dirty="0"/>
              <a:t>, specifically for Polymorphism and Many-to-Many filtering, where data locality eliminates the need for expensive Joins. Hands down the best for </a:t>
            </a:r>
            <a:r>
              <a:rPr lang="en-GB" b="1" dirty="0"/>
              <a:t>flexibility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IT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0FDB5A-E488-C6DD-E350-ADE8F07FE7B3}"/>
              </a:ext>
            </a:extLst>
          </p:cNvPr>
          <p:cNvSpPr txBox="1">
            <a:spLocks/>
          </p:cNvSpPr>
          <p:nvPr/>
        </p:nvSpPr>
        <p:spPr>
          <a:xfrm>
            <a:off x="6280727" y="2686756"/>
            <a:ext cx="5689600" cy="37055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Developer Experience: The "LOC vs. Verbosity" Paradox</a:t>
            </a:r>
            <a:endParaRPr lang="en-GB" dirty="0"/>
          </a:p>
          <a:p>
            <a:r>
              <a:rPr lang="en-GB" b="1" dirty="0"/>
              <a:t>Lines of Code (LOC):</a:t>
            </a:r>
            <a:r>
              <a:rPr lang="en-GB" dirty="0"/>
              <a:t> </a:t>
            </a:r>
            <a:r>
              <a:rPr lang="en-GB" b="1" dirty="0"/>
              <a:t>SQL wins visually</a:t>
            </a:r>
            <a:r>
              <a:rPr lang="en-GB" dirty="0"/>
              <a:t>. Being a declarative language, SQL commands are often compact. MongoDB's JSON structure consumes more vertical space due to formatting (brackets/braces).</a:t>
            </a:r>
          </a:p>
          <a:p>
            <a:r>
              <a:rPr lang="en-GB" b="1" dirty="0"/>
              <a:t>Cognitive Verbosity:</a:t>
            </a:r>
            <a:r>
              <a:rPr lang="en-GB" dirty="0"/>
              <a:t> </a:t>
            </a:r>
            <a:r>
              <a:rPr lang="en-GB" b="1" dirty="0"/>
              <a:t>MongoDB wins logically</a:t>
            </a:r>
            <a:r>
              <a:rPr lang="en-GB" dirty="0"/>
              <a:t>. Despite using more lines, MongoDB requires significantly fewer "logical concepts" (keywords) to achieve the result. SQL forces high cognitive load (Joins, Groups, Having) to reconstruct data relationships.</a:t>
            </a:r>
          </a:p>
          <a:p>
            <a:pPr marL="0" indent="0">
              <a:buFont typeface="Wingdings 3" charset="2"/>
              <a:buNone/>
            </a:pP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4250883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CDCAF-0B56-584E-5D70-60D1A9C4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Verdict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A0D93-E6D3-BA66-7044-A207F499C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Specialized Tools for Distinct Problems: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Choose SQL when:</a:t>
            </a:r>
            <a:r>
              <a:rPr lang="en-GB" dirty="0"/>
              <a:t> Data integrity (ACID), complex reporting, relationship stability are the priority, and the workload fits within </a:t>
            </a:r>
            <a:r>
              <a:rPr lang="en-GB" b="1" dirty="0"/>
              <a:t>Vertical Scaling</a:t>
            </a:r>
            <a:r>
              <a:rPr lang="en-GB" dirty="0"/>
              <a:t> limits (Single-Node Performance)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Choose NoSQL when:</a:t>
            </a:r>
            <a:r>
              <a:rPr lang="en-GB" dirty="0"/>
              <a:t> You need Schema Flexibility (CI/CD), high read throughput on heterogeneous data (Polymorphism), developer-friendly syntax, and </a:t>
            </a:r>
            <a:r>
              <a:rPr lang="en-GB" b="1" dirty="0"/>
              <a:t>Horizontal Scalability (Sharding)</a:t>
            </a:r>
            <a:r>
              <a:rPr lang="en-GB" dirty="0"/>
              <a:t> to handle massive, distributed datasets.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3104872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5FE5F-42BA-12AD-3813-FDDDED514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IT"/>
              <a:t>Github project repository</a:t>
            </a:r>
            <a:endParaRPr lang="en-IT" dirty="0"/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0C781FC2-7C1E-AC8C-0D0E-0BDCAE56D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381" y="2775951"/>
            <a:ext cx="6397313" cy="341630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b="1" dirty="0"/>
              <a:t>Project Repository</a:t>
            </a:r>
            <a:r>
              <a:rPr lang="en-GB" dirty="0"/>
              <a:t> Scan to access the complete implementation: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FC 25 Dataset (17k+ Players)</a:t>
            </a:r>
          </a:p>
          <a:p>
            <a:r>
              <a:rPr lang="en-GB" dirty="0"/>
              <a:t>PostgreSQL vs MongoDB Scripts</a:t>
            </a:r>
          </a:p>
          <a:p>
            <a:r>
              <a:rPr lang="en-GB" dirty="0"/>
              <a:t>Performance Test Results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hlinkClick r:id="rId2"/>
              </a:rPr>
              <a:t>https://</a:t>
            </a:r>
            <a:r>
              <a:rPr lang="en-GB" dirty="0" err="1">
                <a:hlinkClick r:id="rId2"/>
              </a:rPr>
              <a:t>github.com</a:t>
            </a:r>
            <a:r>
              <a:rPr lang="en-GB" dirty="0">
                <a:hlinkClick r:id="rId2"/>
              </a:rPr>
              <a:t>/</a:t>
            </a:r>
            <a:r>
              <a:rPr lang="en-GB" dirty="0" err="1">
                <a:hlinkClick r:id="rId2"/>
              </a:rPr>
              <a:t>Giogioatti</a:t>
            </a:r>
            <a:r>
              <a:rPr lang="en-GB" dirty="0">
                <a:hlinkClick r:id="rId2"/>
              </a:rPr>
              <a:t>/Fc25_DM_Project/tree/main</a:t>
            </a:r>
            <a:endParaRPr lang="en-GB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61F6EBF9-65C6-6D3A-3673-AB3BD5218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18" r="-4" b="-4"/>
          <a:stretch>
            <a:fillRect/>
          </a:stretch>
        </p:blipFill>
        <p:spPr>
          <a:xfrm>
            <a:off x="8020571" y="2775951"/>
            <a:ext cx="3080048" cy="306716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99073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5812</TotalTime>
  <Words>1177</Words>
  <Application>Microsoft Macintosh PowerPoint</Application>
  <PresentationFormat>Widescreen</PresentationFormat>
  <Paragraphs>125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Ion Boardroom</vt:lpstr>
      <vt:lpstr>SQL vs NoSQL</vt:lpstr>
      <vt:lpstr>Context and Objective</vt:lpstr>
      <vt:lpstr>The Dataset</vt:lpstr>
      <vt:lpstr>PostgreSQL ETL Pipeline</vt:lpstr>
      <vt:lpstr>SQL Schema</vt:lpstr>
      <vt:lpstr>MongoDB Aggregation Pipeline</vt:lpstr>
      <vt:lpstr>No-SQL Schema</vt:lpstr>
      <vt:lpstr>Methodology &amp; Environment</vt:lpstr>
      <vt:lpstr>The 10 Benchmark Queries</vt:lpstr>
      <vt:lpstr>The Queries</vt:lpstr>
      <vt:lpstr>Performance Query</vt:lpstr>
      <vt:lpstr>Syntactic Complexity </vt:lpstr>
      <vt:lpstr>Flexibility </vt:lpstr>
      <vt:lpstr>Prestational Benchmark</vt:lpstr>
      <vt:lpstr>Verbosity Benchmark</vt:lpstr>
      <vt:lpstr>LOC Benchmark</vt:lpstr>
      <vt:lpstr>Conclusions</vt:lpstr>
      <vt:lpstr>Verdict</vt:lpstr>
      <vt:lpstr>Github project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Attingenti</dc:creator>
  <cp:lastModifiedBy>Giovanni Attingenti</cp:lastModifiedBy>
  <cp:revision>10</cp:revision>
  <dcterms:created xsi:type="dcterms:W3CDTF">2026-01-03T11:19:57Z</dcterms:created>
  <dcterms:modified xsi:type="dcterms:W3CDTF">2026-01-11T11:46:17Z</dcterms:modified>
</cp:coreProperties>
</file>